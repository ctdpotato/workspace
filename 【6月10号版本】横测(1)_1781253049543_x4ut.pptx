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591" r:id="rId3"/>
    <p:sldId id="592" r:id="rId4"/>
    <p:sldId id="587" r:id="rId5"/>
    <p:sldId id="588" r:id="rId7"/>
    <p:sldId id="5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22C4C-7182-412E-8397-B258213B5A08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C5297-C82E-435E-B34F-2097507D528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0A586-F3BA-4E62-8EF3-1A3202A4B8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-11430"/>
            <a:ext cx="12192000" cy="6869430"/>
          </a:xfrm>
          <a:prstGeom prst="rect">
            <a:avLst/>
          </a:prstGeom>
          <a:gradFill>
            <a:gsLst>
              <a:gs pos="0">
                <a:srgbClr val="05030E"/>
              </a:gs>
              <a:gs pos="60000">
                <a:srgbClr val="090D3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/Users/mogu/Library/Containers/com.kingsoft.wpsoffice.mac/Data/tmp/picturecompress_20260428032035/output_1.pngoutput_1"/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11430"/>
            <a:ext cx="12190730" cy="68694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34388-6AEE-4128-BCB9-28D9CCBA7AB8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25801-4FF3-4C2A-AEE3-A56A7B3B935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openxmlformats.org/officeDocument/2006/relationships/image" Target="../media/image4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6.xml"/><Relationship Id="rId12" Type="http://schemas.openxmlformats.org/officeDocument/2006/relationships/image" Target="../media/image10.jpeg"/><Relationship Id="rId11" Type="http://schemas.openxmlformats.org/officeDocument/2006/relationships/image" Target="../media/image9.jpeg"/><Relationship Id="rId10" Type="http://schemas.openxmlformats.org/officeDocument/2006/relationships/image" Target="../media/image8.jpe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d247d4464ec51f89e55a5e3df717f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" y="0"/>
            <a:ext cx="121278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99fc3ed6ca1b061194fb3e150e55715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0"/>
            <a:ext cx="121297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194310" y="2253857"/>
            <a:ext cx="8092440" cy="4565277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内容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FLOW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（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仅作参考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勿照搬文案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）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highlight>
                <a:srgbClr val="DFB872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Helvetica"/>
              <a:sym typeface="Aptos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1.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产品痛点引入：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精华水千千万，为何“复活水”更出圈？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66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Helvetica"/>
              <a:sym typeface="Aptos"/>
            </a:endParaRPr>
          </a:p>
          <a:p>
            <a:pPr lvl="0" hangingPunct="0">
              <a:lnSpc>
                <a:spcPct val="120000"/>
              </a:lnSpc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市面上的精华水琳琅满目，但你是不是也有过这种无奈：刚抹上水润通透，过一会儿又干绷紧绷？泛红、暗沉依旧反复找上门？其实，这真不能怪你护肤不勤快。普通精华水往往只在角质层做表面功夫，而你的皮肤真正面临的危机是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屏障受损导致的深层受损。雅诗兰黛小棕家族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年来的首款精华水「复活水」，直接打破了这个瓶颈。它不做短暂的表面润泽，而是首次让修护深达细胞核芯</a:t>
            </a:r>
            <a:r>
              <a:rPr 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hangingPunct="0">
              <a:lnSpc>
                <a:spcPct val="120000"/>
              </a:lnSpc>
              <a:defRPr/>
            </a:pPr>
            <a:endParaRPr lang="zh-CN" alt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2.</a:t>
            </a:r>
            <a:r>
              <a:rPr lang="zh-CN" altLang="en-US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强调产品</a:t>
            </a:r>
            <a:r>
              <a:rPr lang="en-US" altLang="zh-CN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RTB</a:t>
            </a:r>
            <a:r>
              <a:rPr lang="zh-CN" altLang="en-US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：</a:t>
            </a:r>
            <a:r>
              <a:rPr lang="zh-CN" altLang="en-US" sz="1400" b="1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复活水凭什么脱颖而出？</a:t>
            </a:r>
            <a:br>
              <a:rPr lang="zh-CN" altLang="en-US" sz="1400" b="1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</a:b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✅ 比补水更“深”：微囊科技让修护直达细胞，而非浮于表面</a:t>
            </a:r>
            <a:endParaRPr lang="zh-CN" alt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✅ 比维稳更“准”：律波肽让细胞自己学会修护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，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激活亿万细胞新生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，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从源头解决问题</a:t>
            </a:r>
            <a:endParaRPr lang="zh-CN" alt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  <a:p>
            <a:pPr lvl="0" hangingPunct="0">
              <a:lnSpc>
                <a:spcPct val="120000"/>
              </a:lnSpc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✅ 比单一功能更“全”：集透润、透嫩、透亮于一体，一瓶搞定多维度肌肤需求</a:t>
            </a:r>
            <a:br>
              <a:rPr lang="zh-CN" altLang="en-US" sz="1400" b="1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</a:br>
            <a:r>
              <a:rPr lang="zh-CN" altLang="en-US" sz="1000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①</a:t>
            </a:r>
            <a:r>
              <a:rPr lang="zh-CN" altLang="en-US" sz="1000" b="1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【独家质地】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轻晃瓶身，能看到微囊如星河流转般灵动。上脸的瞬间，微囊爆破释放能量，仿佛给皮肤直接“灌”入水分。这种润而不腻的触感，不仅是为了补水，更是为了提前打开肌肤通道，为后续的深层修复铺路。比起市面上那些渗透力不足、只停留在表层的竞品，它的吸收感完全不在一个层级。</a:t>
            </a:r>
            <a:endParaRPr lang="en-US" altLang="zh-CN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hangingPunct="0">
              <a:lnSpc>
                <a:spcPct val="120000"/>
              </a:lnSpc>
              <a:defRPr/>
            </a:pPr>
            <a:r>
              <a:rPr lang="zh-CN" altLang="en-US" sz="1000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②【</a:t>
            </a:r>
            <a:r>
              <a:rPr lang="zh-CN" altLang="en-US" sz="1000" b="1" dirty="0">
                <a:solidFill>
                  <a:srgbClr val="0F1115"/>
                </a:solidFill>
                <a:highlight>
                  <a:srgbClr val="FFFF00"/>
                </a:highlight>
                <a:ea typeface="Microsoft YaHei Bold" panose="020B0503020204020204" charset="-122"/>
                <a:sym typeface="Aptos"/>
              </a:rPr>
              <a:t> </a:t>
            </a:r>
            <a:r>
              <a:rPr lang="en-US" altLang="zh-CN" sz="1000" b="1" dirty="0">
                <a:solidFill>
                  <a:srgbClr val="0F1115"/>
                </a:solidFill>
                <a:highlight>
                  <a:srgbClr val="FFFF00"/>
                </a:highlight>
                <a:ea typeface="Microsoft YaHei Bold" panose="020B0503020204020204" charset="-122"/>
                <a:sym typeface="Aptos"/>
              </a:rPr>
              <a:t>175</a:t>
            </a:r>
            <a:r>
              <a:rPr lang="zh-CN" altLang="en-US" sz="1000" b="1" dirty="0">
                <a:solidFill>
                  <a:srgbClr val="0F1115"/>
                </a:solidFill>
                <a:highlight>
                  <a:srgbClr val="FFFF00"/>
                </a:highlight>
                <a:ea typeface="Microsoft YaHei Bold" panose="020B0503020204020204" charset="-122"/>
                <a:sym typeface="Aptos"/>
              </a:rPr>
              <a:t>纳米微囊深导科技</a:t>
            </a:r>
            <a:r>
              <a:rPr lang="zh-CN" altLang="en-US" sz="1000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】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这是复活水的核心杀手锏！粒径仅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175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纳米的仿生微囊（比毛孔小了整整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倍），能轻松穿透角质层，将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500+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修护肽精准送达细胞核芯，从源头阻断炎症信号。无论是熬夜泛红急救，还是淡化痘印、平滑粗糙，它都能从细胞层面精准“灭火”。相比依赖大分子成分的传统精华水，它的修护效率实现了真正的降维打击。</a:t>
            </a:r>
            <a:endParaRPr lang="en-US" altLang="zh-CN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hangingPunct="0">
              <a:lnSpc>
                <a:spcPct val="120000"/>
              </a:lnSpc>
              <a:defRPr/>
            </a:pPr>
            <a:r>
              <a:rPr lang="zh-CN" altLang="en-US" sz="1000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③</a:t>
            </a:r>
            <a:r>
              <a:rPr lang="zh-CN" altLang="en-US" sz="1000" b="1" noProof="0" dirty="0">
                <a:ln>
                  <a:noFill/>
                </a:ln>
                <a:solidFill>
                  <a:srgbClr val="0F1115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Aptos"/>
              </a:rPr>
              <a:t>【专利律波肽】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很多精华水要么偏科单一，要么顾此失彼，而复活水的灵魂成分专利律波肽，走的是“长效刺激新生”的路线，新细胞不断冒头，把皮肤变成一台自发的“焕新引擎”。</a:t>
            </a:r>
            <a:endParaRPr lang="zh-CN" alt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000" dirty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3.</a:t>
            </a:r>
            <a:r>
              <a:rPr lang="zh-CN" altLang="en-US" sz="1400" b="1" dirty="0">
                <a:solidFill>
                  <a:srgbClr val="663300"/>
                </a:solidFill>
                <a:highlight>
                  <a:srgbClr val="DFB872"/>
                </a:highlight>
                <a:latin typeface="微软雅黑" panose="020B0503020204020204" charset="-122"/>
                <a:ea typeface="微软雅黑" panose="020B0503020204020204" charset="-122"/>
                <a:sym typeface="Aptos"/>
              </a:rPr>
              <a:t> 结尾真诚安利</a:t>
            </a:r>
            <a:endParaRPr lang="zh-CN" altLang="en-US" sz="1400" b="1" dirty="0">
              <a:solidFill>
                <a:srgbClr val="663300"/>
              </a:solidFill>
              <a:highlight>
                <a:srgbClr val="DFB872"/>
              </a:highlight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  <a:p>
            <a:pPr marL="0" marR="0" lvl="0" indent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雅诗兰黛复活水并非靠概念营销，而是用“科技+成分”的双重实证，走出了一条不同于传统精华水的“细胞级复活”之路。如果你的皮肤深陷屏障受损、恢复缓慢的困境，渴望一瓶能真正“治本”的精华水，它值得成为你的选择。</a:t>
            </a:r>
            <a:endParaRPr lang="zh-CN" altLang="en-US" sz="1400" b="1" dirty="0">
              <a:solidFill>
                <a:srgbClr val="663300"/>
              </a:solidFill>
              <a:highlight>
                <a:srgbClr val="DFB872"/>
              </a:highlight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</p:txBody>
      </p:sp>
      <p:sp>
        <p:nvSpPr>
          <p:cNvPr id="3" name="object 3"/>
          <p:cNvSpPr txBox="1"/>
          <p:nvPr>
            <p:custDataLst>
              <p:tags r:id="rId2"/>
            </p:custDataLst>
          </p:nvPr>
        </p:nvSpPr>
        <p:spPr>
          <a:xfrm>
            <a:off x="28198" y="204503"/>
            <a:ext cx="95656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 kern="0">
                <a:gradFill flip="none" rotWithShape="1">
                  <a:gsLst>
                    <a:gs pos="0">
                      <a:srgbClr val="CB9A5F"/>
                    </a:gs>
                    <a:gs pos="49980">
                      <a:srgbClr val="FCE1A4"/>
                    </a:gs>
                    <a:gs pos="98000">
                      <a:srgbClr val="CB9A5F"/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Bold" panose="020B0503020204020204" charset="-122"/>
                <a:ea typeface="Microsoft YaHei Bold" panose="020B0503020204020204" charset="-122"/>
                <a:cs typeface="Optima Bold" panose="02000503060000020004" charset="0"/>
              </a:defRPr>
            </a:lvl1pPr>
          </a:lstStyle>
          <a:p>
            <a:pPr algn="l"/>
            <a:r>
              <a:rPr lang="en-US" dirty="0">
                <a:sym typeface="微软雅黑" panose="020B0503020204020204" charset="-120"/>
              </a:rPr>
              <a:t>CONTENT ANGLE-</a:t>
            </a:r>
            <a:r>
              <a:rPr lang="zh-CN" altLang="en-US">
                <a:sym typeface="+mn-ea"/>
              </a:rPr>
              <a:t>精华水竞品横测</a:t>
            </a:r>
            <a:endParaRPr lang="zh-CN" altLang="en-US" dirty="0">
              <a:sym typeface="微软雅黑" panose="020B050302020402020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310" y="1079499"/>
            <a:ext cx="3658868" cy="1071245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j-ea"/>
              <a:cs typeface="Helvetica"/>
              <a:sym typeface="Aptos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027998" y="1078864"/>
            <a:ext cx="4258752" cy="1071245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no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 sz="900" spc="-25">
                <a:latin typeface="微软雅黑" panose="020B0503020204020204" charset="-120"/>
                <a:ea typeface="微软雅黑" panose="020B0503020204020204" charset="-120"/>
                <a:cs typeface="微软雅黑" panose="020B0503020204020204" charset="-120"/>
                <a:sym typeface="微软雅黑" panose="020B0503020204020204" charset="-120"/>
              </a:defRPr>
            </a:pPr>
            <a:r>
              <a:rPr kumimoji="0" lang="zh-CN" altLang="en-US" sz="12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微软雅黑" panose="020B0503020204020204" charset="-120"/>
              </a:rPr>
              <a:t>对标市面大热精华水组成合集</a:t>
            </a:r>
            <a:endParaRPr kumimoji="0" lang="zh-CN" altLang="en-US" sz="1200" b="0" i="0" u="none" strike="noStrike" kern="0" cap="none" spc="-25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Helvetica"/>
              <a:sym typeface="微软雅黑" panose="020B0503020204020204" charset="-120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 sz="900" spc="-25">
                <a:latin typeface="微软雅黑" panose="020B0503020204020204" charset="-120"/>
                <a:ea typeface="微软雅黑" panose="020B0503020204020204" charset="-120"/>
                <a:cs typeface="微软雅黑" panose="020B0503020204020204" charset="-120"/>
                <a:sym typeface="微软雅黑" panose="020B0503020204020204" charset="-120"/>
              </a:defRPr>
            </a:pPr>
            <a:r>
              <a:rPr kumimoji="0" lang="zh-CN" altLang="en-US" sz="12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微软雅黑" panose="020B0503020204020204" charset="-120"/>
              </a:rPr>
              <a:t>需首讲本品次讲竞品</a:t>
            </a:r>
            <a:r>
              <a:rPr kumimoji="0" lang="en-US" altLang="zh-CN" sz="12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微软雅黑" panose="020B0503020204020204" charset="-120"/>
              </a:rPr>
              <a:t>，</a:t>
            </a:r>
            <a:r>
              <a:rPr kumimoji="0" lang="zh-CN" altLang="en-US" sz="1200" b="0" i="0" u="none" strike="noStrike" kern="0" cap="none" spc="-25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微软雅黑" panose="020B0503020204020204" charset="-120"/>
              </a:rPr>
              <a:t>不得过分拉踩竞品</a:t>
            </a:r>
            <a:endParaRPr kumimoji="0" lang="zh-CN" altLang="en-US" sz="1200" b="0" i="0" u="none" strike="noStrike" kern="0" cap="none" spc="-25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Helvetica"/>
              <a:sym typeface="微软雅黑" panose="020B0503020204020204" charset="-120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 sz="900" spc="-25">
                <a:latin typeface="微软雅黑" panose="020B0503020204020204" charset="-120"/>
                <a:ea typeface="微软雅黑" panose="020B0503020204020204" charset="-120"/>
                <a:cs typeface="微软雅黑" panose="020B0503020204020204" charset="-120"/>
                <a:sym typeface="微软雅黑" panose="020B0503020204020204" charset="-120"/>
              </a:defRPr>
            </a:pPr>
            <a:r>
              <a:rPr kumimoji="0" lang="zh-CN" altLang="en-US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DFB872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Helvetica"/>
                <a:sym typeface="微软雅黑" panose="020B0503020204020204" charset="-120"/>
              </a:rPr>
              <a:t>核心突出我们【人无我有】修护深达细胞核芯；【人有我优】质地上脸吸收快不粘腻；</a:t>
            </a:r>
            <a:endParaRPr kumimoji="0" lang="zh-CN" altLang="en-US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DFB872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Helvetica"/>
              <a:sym typeface="微软雅黑" panose="020B0503020204020204" charset="-12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294179" y="1154585"/>
            <a:ext cx="1665722" cy="86988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no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Optima Bold Italic" panose="02000503060000020004" charset="0"/>
                <a:ea typeface="+mj-ea"/>
                <a:cs typeface="Optima Bold Italic" panose="02000503060000020004" charset="0"/>
                <a:sym typeface="Aptos"/>
              </a:rPr>
              <a:t>5</a:t>
            </a:r>
            <a:endParaRPr kumimoji="0" lang="en-US" altLang="zh-CN" sz="6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tima Bold Italic" panose="02000503060000020004" charset="0"/>
              <a:ea typeface="+mj-ea"/>
              <a:cs typeface="Optima Bold Italic" panose="02000503060000020004" charset="0"/>
              <a:sym typeface="Aptos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8362315" y="1065530"/>
            <a:ext cx="3754755" cy="1801495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000" dirty="0">
              <a:latin typeface="Arial" panose="020B060402020209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390255" y="730885"/>
            <a:ext cx="3754755" cy="217805"/>
          </a:xfrm>
          <a:prstGeom prst="rect">
            <a:avLst/>
          </a:prstGeom>
          <a:gradFill>
            <a:gsLst>
              <a:gs pos="0">
                <a:srgbClr val="DCBA7F"/>
              </a:gs>
              <a:gs pos="51000">
                <a:srgbClr val="F6F5CF"/>
              </a:gs>
              <a:gs pos="100000">
                <a:srgbClr val="EADAAB"/>
              </a:gs>
            </a:gsLst>
            <a:lin ang="10800000" scaled="0"/>
          </a:gra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412750" hangingPunct="0">
              <a:lnSpc>
                <a:spcPct val="110000"/>
              </a:lnSpc>
            </a:pPr>
            <a:r>
              <a:rPr lang="zh-CN" altLang="en-US" sz="1400" spc="3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封面</a:t>
            </a:r>
            <a:r>
              <a:rPr lang="en-US" altLang="zh-CN" sz="1400" spc="3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&amp;</a:t>
            </a:r>
            <a:r>
              <a:rPr lang="zh-CN" altLang="en-US" sz="1400" spc="3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Aptos"/>
              </a:rPr>
              <a:t>标题参考</a:t>
            </a:r>
            <a:endParaRPr lang="zh-CN" altLang="en-US" sz="1400" spc="3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Apto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1290" y="207645"/>
            <a:ext cx="406400" cy="4064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15192" y="1137432"/>
            <a:ext cx="28175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微软雅黑" panose="020B0503020204020204" charset="-120"/>
                <a:ea typeface="微软雅黑" panose="020B0503020204020204" charset="-120"/>
              </a:rPr>
              <a:t>复活水对比市面修护水大</a:t>
            </a:r>
            <a:r>
              <a:rPr lang="en-GB" altLang="zh-CN" sz="2800" dirty="0">
                <a:solidFill>
                  <a:prstClr val="black"/>
                </a:solidFill>
                <a:latin typeface="微软雅黑" panose="020B0503020204020204" charset="-120"/>
                <a:ea typeface="微软雅黑" panose="020B0503020204020204" charset="-120"/>
              </a:rPr>
              <a:t>PK</a:t>
            </a:r>
            <a:endParaRPr lang="zh-CN" altLang="en-US" sz="2800" dirty="0">
              <a:solidFill>
                <a:prstClr val="black"/>
              </a:solidFill>
              <a:latin typeface="微软雅黑" panose="020B0503020204020204" charset="-120"/>
              <a:ea typeface="微软雅黑" panose="020B0503020204020204" charset="-120"/>
            </a:endParaRPr>
          </a:p>
        </p:txBody>
      </p:sp>
      <p:pic>
        <p:nvPicPr>
          <p:cNvPr id="16" name="图片 15"/>
          <p:cNvPicPr/>
          <p:nvPr/>
        </p:nvPicPr>
        <p:blipFill>
          <a:blip r:embed="rId7"/>
          <a:stretch>
            <a:fillRect/>
          </a:stretch>
        </p:blipFill>
        <p:spPr>
          <a:xfrm>
            <a:off x="8418195" y="2994660"/>
            <a:ext cx="1198245" cy="179768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8"/>
          <a:stretch>
            <a:fillRect/>
          </a:stretch>
        </p:blipFill>
        <p:spPr>
          <a:xfrm>
            <a:off x="9604375" y="2984500"/>
            <a:ext cx="1327785" cy="180848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9"/>
          <a:stretch>
            <a:fillRect/>
          </a:stretch>
        </p:blipFill>
        <p:spPr>
          <a:xfrm>
            <a:off x="8425180" y="4884420"/>
            <a:ext cx="1198245" cy="1699895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0"/>
          <a:stretch>
            <a:fillRect/>
          </a:stretch>
        </p:blipFill>
        <p:spPr>
          <a:xfrm>
            <a:off x="9634855" y="4885055"/>
            <a:ext cx="1327785" cy="169862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1"/>
          <a:stretch>
            <a:fillRect/>
          </a:stretch>
        </p:blipFill>
        <p:spPr>
          <a:xfrm>
            <a:off x="10932160" y="2983865"/>
            <a:ext cx="1259205" cy="1809115"/>
          </a:xfrm>
          <a:prstGeom prst="rect">
            <a:avLst/>
          </a:prstGeom>
        </p:spPr>
      </p:pic>
      <p:pic>
        <p:nvPicPr>
          <p:cNvPr id="31" name="图片 30"/>
          <p:cNvPicPr/>
          <p:nvPr/>
        </p:nvPicPr>
        <p:blipFill>
          <a:blip r:embed="rId12"/>
          <a:stretch>
            <a:fillRect/>
          </a:stretch>
        </p:blipFill>
        <p:spPr>
          <a:xfrm>
            <a:off x="10962005" y="4884420"/>
            <a:ext cx="1259840" cy="1697990"/>
          </a:xfrm>
          <a:prstGeom prst="rect">
            <a:avLst/>
          </a:prstGeom>
        </p:spPr>
      </p:pic>
      <p:graphicFrame>
        <p:nvGraphicFramePr>
          <p:cNvPr id="39" name="表格 38"/>
          <p:cNvGraphicFramePr/>
          <p:nvPr>
            <p:custDataLst>
              <p:tags r:id="rId13"/>
            </p:custDataLst>
          </p:nvPr>
        </p:nvGraphicFramePr>
        <p:xfrm>
          <a:off x="8521700" y="1445895"/>
          <a:ext cx="3371215" cy="1371600"/>
        </p:xfrm>
        <a:graphic>
          <a:graphicData uri="http://schemas.openxmlformats.org/drawingml/2006/table">
            <a:tbl>
              <a:tblPr/>
              <a:tblGrid>
                <a:gridCol w="3371215"/>
              </a:tblGrid>
              <a:tr h="137160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900" b="0" i="0"/>
                        <a:t>扒光千元贵妇精华水底裤！配方真能配得上它的身价？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 b="0" i="0"/>
                        <a:t>贵妇圈都在抢的精华水？真相来了</a:t>
                      </a:r>
                      <a:r>
                        <a:rPr lang="en-US" altLang="zh-CN" sz="900" b="0" i="0"/>
                        <a:t>！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 b="0" i="0"/>
                        <a:t>真能养出发光肌！这几瓶精华水我悟了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 b="0" i="0"/>
                        <a:t>谁懂啊！这几瓶精华水真把熬夜微死肌救回来了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>
                          <a:sym typeface="+mn-ea"/>
                        </a:rPr>
                        <a:t>大牌打架凡人享福！</a:t>
                      </a:r>
                      <a:r>
                        <a:rPr lang="en-US" altLang="zh-CN" sz="900">
                          <a:sym typeface="+mn-ea"/>
                        </a:rPr>
                        <a:t>6</a:t>
                      </a:r>
                      <a:r>
                        <a:rPr lang="zh-CN" altLang="en-US" sz="900">
                          <a:sym typeface="+mn-ea"/>
                        </a:rPr>
                        <a:t>款大牌精华水测评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>
                          <a:sym typeface="+mn-ea"/>
                        </a:rPr>
                        <a:t>修护堪比救火，红脸干燥星人这篇一定要看</a:t>
                      </a:r>
                      <a:r>
                        <a:rPr lang="en-US" altLang="zh-CN" sz="900">
                          <a:sym typeface="+mn-ea"/>
                        </a:rPr>
                        <a:t>！</a:t>
                      </a:r>
                      <a:endParaRPr lang="en-US" altLang="zh-CN" sz="900">
                        <a:sym typeface="+mn-ea"/>
                      </a:endParaRPr>
                    </a:p>
                    <a:p>
                      <a:pPr fontAlgn="ctr" latinLnBrk="0"/>
                      <a:r>
                        <a:rPr lang="zh-CN" altLang="en-US" sz="900">
                          <a:sym typeface="+mn-ea"/>
                        </a:rPr>
                        <a:t>贵妇精华水决赛圈，这把透亮嫩谁赢面大</a:t>
                      </a:r>
                      <a:endParaRPr lang="zh-CN" altLang="en-US" sz="900" b="0" i="0">
                        <a:sym typeface="+mn-ea"/>
                      </a:endParaRPr>
                    </a:p>
                    <a:p>
                      <a:pPr fontAlgn="ctr" latinLnBrk="0"/>
                      <a:r>
                        <a:rPr lang="zh-CN" altLang="en-US" sz="900" b="0" i="0"/>
                        <a:t>补水只是及格线｜贵妇精华水真正卷的是这个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en-US" altLang="zh-CN" sz="900" b="0" i="0"/>
                        <a:t>1</a:t>
                      </a:r>
                      <a:r>
                        <a:rPr lang="zh-CN" altLang="en-US" sz="900" b="0" i="0"/>
                        <a:t>年换</a:t>
                      </a:r>
                      <a:r>
                        <a:rPr lang="en-US" altLang="zh-CN" sz="900" b="0" i="0"/>
                        <a:t>3</a:t>
                      </a:r>
                      <a:r>
                        <a:rPr lang="zh-CN" altLang="en-US" sz="900" b="0" i="0"/>
                        <a:t>年？养脸也可以开倍速</a:t>
                      </a:r>
                      <a:endParaRPr lang="zh-CN" altLang="en-US" sz="900" b="0" i="0"/>
                    </a:p>
                    <a:p>
                      <a:pPr fontAlgn="ctr" latinLnBrk="0"/>
                      <a:r>
                        <a:rPr lang="zh-CN" altLang="en-US" sz="900" b="0" i="0"/>
                        <a:t>泼天富贵灌进肌底！贵妇精华水王炸横测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E0E3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8407400" y="1025525"/>
            <a:ext cx="3371850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封面以合集为主</a:t>
            </a:r>
            <a:r>
              <a:rPr lang="en-US" altLang="zh-CN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，</a:t>
            </a:r>
            <a:r>
              <a:rPr lang="zh-CN" altLang="en-US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产品需放置</a:t>
            </a:r>
            <a:r>
              <a:rPr lang="en-US" altLang="zh-CN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C</a:t>
            </a:r>
            <a:r>
              <a:rPr lang="zh-CN" altLang="en-US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位明显处</a:t>
            </a:r>
            <a:endParaRPr lang="zh-CN" altLang="en-US" sz="90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0"/>
              <a:ea typeface="微软雅黑" panose="020B0503020204020204" charset="-120"/>
              <a:cs typeface="Helvetica"/>
              <a:sym typeface="Aptos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标题需要吸睛且</a:t>
            </a:r>
            <a:r>
              <a:rPr lang="en-US" altLang="zh-CN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on trend</a:t>
            </a:r>
            <a:r>
              <a:rPr lang="zh-CN" altLang="en-US" sz="9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0"/>
                <a:ea typeface="微软雅黑" panose="020B0503020204020204" charset="-120"/>
                <a:cs typeface="Helvetica"/>
                <a:sym typeface="Aptos"/>
              </a:rPr>
              <a:t>，参考：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0"/>
              <a:ea typeface="微软雅黑" panose="020B0503020204020204" charset="-120"/>
              <a:cs typeface="Helvetica"/>
              <a:sym typeface="Aptos"/>
            </a:endParaRPr>
          </a:p>
          <a:p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0"/>
              <a:ea typeface="微软雅黑" panose="020B0503020204020204" charset="-120"/>
              <a:cs typeface="Helvetica"/>
              <a:sym typeface="Apto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849630"/>
            <a:ext cx="12192635" cy="6007735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j-ea"/>
              <a:cs typeface="Helvetica"/>
              <a:sym typeface="Apto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7655" y="2781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dirty="0">
                <a:sym typeface="微软雅黑" panose="020B0503020204020204" charset="-120"/>
              </a:rPr>
              <a:t>CONTENT ANGLE-</a:t>
            </a:r>
            <a:r>
              <a:rPr lang="zh-CN" altLang="en-US">
                <a:sym typeface="+mn-ea"/>
              </a:rPr>
              <a:t>精华水竞品横测</a:t>
            </a:r>
            <a:endParaRPr lang="zh-CN" altLang="en-US">
              <a:sym typeface="+mn-ea"/>
            </a:endParaRPr>
          </a:p>
        </p:txBody>
      </p:sp>
      <p:sp>
        <p:nvSpPr>
          <p:cNvPr id="3" name="object 3"/>
          <p:cNvSpPr txBox="1"/>
          <p:nvPr>
            <p:custDataLst>
              <p:tags r:id="rId1"/>
            </p:custDataLst>
          </p:nvPr>
        </p:nvSpPr>
        <p:spPr>
          <a:xfrm>
            <a:off x="113288" y="204503"/>
            <a:ext cx="95656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 kern="0">
                <a:gradFill flip="none" rotWithShape="1">
                  <a:gsLst>
                    <a:gs pos="0">
                      <a:srgbClr val="CB9A5F"/>
                    </a:gs>
                    <a:gs pos="49980">
                      <a:srgbClr val="FCE1A4"/>
                    </a:gs>
                    <a:gs pos="98000">
                      <a:srgbClr val="CB9A5F"/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Bold" panose="020B0503020204020204" charset="-122"/>
                <a:ea typeface="Microsoft YaHei Bold" panose="020B0503020204020204" charset="-122"/>
                <a:cs typeface="Optima Bold" panose="02000503060000020004" charset="0"/>
              </a:defRPr>
            </a:lvl1pPr>
          </a:lstStyle>
          <a:p>
            <a:pPr algn="l"/>
            <a:r>
              <a:rPr lang="zh-CN" altLang="en-US" dirty="0">
                <a:sym typeface="微软雅黑" panose="020B0503020204020204" charset="-120"/>
              </a:rPr>
              <a:t>如何沟通竞品</a:t>
            </a:r>
            <a:endParaRPr lang="zh-CN" altLang="en-US" dirty="0">
              <a:sym typeface="微软雅黑" panose="020B0503020204020204" charset="-12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520" y="811530"/>
            <a:ext cx="12095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latin typeface="Arial Bold" panose="020B0604020202090204" charset="0"/>
              </a:rPr>
              <a:t>本品优势</a:t>
            </a:r>
            <a:r>
              <a:rPr lang="en-US" altLang="zh-CN" sz="1200" b="1">
                <a:latin typeface="Arial Bold" panose="020B0604020202090204" charset="0"/>
              </a:rPr>
              <a:t>：</a:t>
            </a:r>
            <a:r>
              <a:rPr lang="zh-CN" altLang="en-US" sz="1200" b="1">
                <a:latin typeface="Arial Bold" panose="020B0604020202090204" charset="0"/>
              </a:rPr>
              <a:t>突出小棕复活水超越表面补水</a:t>
            </a:r>
            <a:r>
              <a:rPr lang="en-US" altLang="zh-CN" sz="1200" b="1">
                <a:latin typeface="Arial Bold" panose="020B0604020202090204" charset="0"/>
              </a:rPr>
              <a:t>、</a:t>
            </a:r>
            <a:r>
              <a:rPr lang="zh-CN" altLang="en-US" sz="1200" b="1">
                <a:latin typeface="Arial Bold" panose="020B0604020202090204" charset="0"/>
              </a:rPr>
              <a:t>表面褪红</a:t>
            </a:r>
            <a:r>
              <a:rPr lang="en-US" altLang="zh-CN" sz="1200" b="1">
                <a:latin typeface="Arial Bold" panose="020B0604020202090204" charset="0"/>
              </a:rPr>
              <a:t>、</a:t>
            </a:r>
            <a:r>
              <a:rPr lang="zh-CN" altLang="en-US" sz="1200" b="1">
                <a:latin typeface="Arial Bold" panose="020B0604020202090204" charset="0"/>
              </a:rPr>
              <a:t>表面提亮</a:t>
            </a:r>
            <a:r>
              <a:rPr lang="en-US" altLang="zh-CN" sz="1200" b="1">
                <a:latin typeface="Arial Bold" panose="020B0604020202090204" charset="0"/>
              </a:rPr>
              <a:t>、</a:t>
            </a:r>
            <a:r>
              <a:rPr lang="zh-CN" altLang="en-US" sz="1200" b="1">
                <a:latin typeface="Arial Bold" panose="020B0604020202090204" charset="0"/>
              </a:rPr>
              <a:t>让修护首次深达细胞核心</a:t>
            </a:r>
            <a:r>
              <a:rPr lang="en-US" altLang="zh-CN" sz="1200" b="1">
                <a:latin typeface="Arial Bold" panose="020B0604020202090204" charset="0"/>
              </a:rPr>
              <a:t>，</a:t>
            </a:r>
            <a:r>
              <a:rPr lang="zh-CN" altLang="en-US" sz="1200" b="1">
                <a:latin typeface="Arial Bold" panose="020B0604020202090204" charset="0"/>
              </a:rPr>
              <a:t>第一瓶真正复活肌肤的精华水相关利益点</a:t>
            </a:r>
            <a:endParaRPr lang="zh-CN" altLang="en-US" sz="1200" b="1">
              <a:latin typeface="Arial Bold" panose="020B0604020202090204" charset="0"/>
            </a:endParaRPr>
          </a:p>
          <a:p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竞品选择</a:t>
            </a:r>
            <a:r>
              <a:rPr lang="en-US" altLang="zh-CN" sz="1200" b="1">
                <a:solidFill>
                  <a:srgbClr val="FF0000"/>
                </a:solidFill>
                <a:latin typeface="Arial Bold" panose="020B0604020202090204" charset="0"/>
              </a:rPr>
              <a:t>：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从以下</a:t>
            </a:r>
            <a:r>
              <a:rPr lang="en-US" altLang="zh-CN" sz="1200" b="1">
                <a:solidFill>
                  <a:srgbClr val="FF0000"/>
                </a:solidFill>
                <a:latin typeface="Arial Bold" panose="020B0604020202090204" charset="0"/>
              </a:rPr>
              <a:t>list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自行挑选</a:t>
            </a:r>
            <a:r>
              <a:rPr lang="en-US" altLang="zh-CN" sz="1200" b="1">
                <a:solidFill>
                  <a:srgbClr val="FF0000"/>
                </a:solidFill>
                <a:latin typeface="Arial Bold" panose="020B0604020202090204" charset="0"/>
              </a:rPr>
              <a:t>，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注意不允许拉踩和贬低竞品</a:t>
            </a:r>
            <a:r>
              <a:rPr lang="en-US" altLang="zh-CN" sz="1200" b="1">
                <a:solidFill>
                  <a:srgbClr val="FF0000"/>
                </a:solidFill>
                <a:latin typeface="Arial Bold" panose="020B0604020202090204" charset="0"/>
              </a:rPr>
              <a:t>，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不允许竞品功效描述与本品高度相似</a:t>
            </a:r>
            <a:r>
              <a:rPr lang="en-US" altLang="zh-CN" sz="1200" b="1">
                <a:solidFill>
                  <a:srgbClr val="FF0000"/>
                </a:solidFill>
                <a:latin typeface="Arial Bold" panose="020B0604020202090204" charset="0"/>
              </a:rPr>
              <a:t>，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</a:rPr>
              <a:t>可以夸的</a:t>
            </a:r>
            <a:r>
              <a:rPr lang="zh-CN" altLang="en-US" sz="1200" b="1">
                <a:solidFill>
                  <a:srgbClr val="FF0000"/>
                </a:solidFill>
                <a:latin typeface="Arial Bold" panose="020B0604020202090204" charset="0"/>
                <a:sym typeface="+mn-ea"/>
              </a:rPr>
              <a:t>百花齐放一点</a:t>
            </a:r>
            <a:endParaRPr lang="zh-CN" altLang="en-US" sz="1200" b="1">
              <a:solidFill>
                <a:srgbClr val="FF0000"/>
              </a:solidFill>
              <a:latin typeface="Arial Bold" panose="020B0604020202090204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65974" y="1356084"/>
          <a:ext cx="11860051" cy="522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573"/>
                <a:gridCol w="885124"/>
                <a:gridCol w="885124"/>
                <a:gridCol w="1482273"/>
                <a:gridCol w="1004082"/>
                <a:gridCol w="772054"/>
                <a:gridCol w="1243178"/>
                <a:gridCol w="4514643"/>
              </a:tblGrid>
              <a:tr h="5880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200" b="1" i="0"/>
                        <a:t>竞品选择</a:t>
                      </a:r>
                      <a:endParaRPr lang="zh-CN" altLang="en-US" sz="1200" b="1" i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200" b="1" i="0" dirty="0"/>
                        <a:t>沟通功效</a:t>
                      </a:r>
                      <a:endParaRPr lang="zh-CN" altLang="en-US" sz="1200" b="1" i="0" dirty="0"/>
                    </a:p>
                  </a:txBody>
                  <a:tcPr marL="0" marR="0" marT="0" marB="0"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zh-CN" altLang="en-US" sz="1200" b="1" i="0" dirty="0"/>
                        <a:t>本品功效</a:t>
                      </a:r>
                      <a:endParaRPr lang="zh-CN" altLang="en-US" sz="1200" b="1" i="0" dirty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200" b="1" i="0" dirty="0"/>
                        <a:t>核心成分</a:t>
                      </a:r>
                      <a:r>
                        <a:rPr lang="en-US" altLang="zh-CN" sz="1200" b="1" i="0" dirty="0"/>
                        <a:t>/</a:t>
                      </a:r>
                      <a:r>
                        <a:rPr lang="zh-CN" altLang="en-US" sz="1200" b="1" i="0" dirty="0"/>
                        <a:t>科技</a:t>
                      </a:r>
                      <a:endParaRPr lang="zh-CN" altLang="en-US" sz="1200" b="1" i="0" dirty="0"/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1" i="0"/>
                        <a:t>volume</a:t>
                      </a:r>
                      <a:endParaRPr lang="en-US" altLang="zh-CN" sz="1200" b="1" i="0"/>
                    </a:p>
                  </a:txBody>
                  <a:tcPr marL="0" marR="0" marT="0" marB="0"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1200" b="1" i="0"/>
                        <a:t>price</a:t>
                      </a:r>
                      <a:endParaRPr lang="en-US" altLang="zh-CN" sz="1200" b="1" i="0"/>
                    </a:p>
                  </a:txBody>
                  <a:tcPr marL="0" marR="0" marT="0" marB="0"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200" b="1" i="0"/>
                        <a:t>竞品短板</a:t>
                      </a:r>
                      <a:endParaRPr lang="zh-CN" altLang="en-US" sz="1200" b="1" i="0"/>
                    </a:p>
                  </a:txBody>
                  <a:tcPr marL="0" marR="0" marT="0" marB="0"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628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200" b="1" i="0"/>
                        <a:t>沟通话术</a:t>
                      </a:r>
                      <a:endParaRPr lang="zh-CN" altLang="en-US" sz="1200" b="1" i="0"/>
                    </a:p>
                    <a:p>
                      <a:pPr algn="ctr" fontAlgn="ctr" latinLnBrk="0"/>
                      <a:r>
                        <a:rPr lang="zh-CN" altLang="en-US" sz="1000" b="1" i="0"/>
                        <a:t>（</a:t>
                      </a:r>
                      <a:r>
                        <a:rPr lang="en-US" altLang="zh-CN" sz="1000" b="1" i="0"/>
                        <a:t>ps</a:t>
                      </a:r>
                      <a:r>
                        <a:rPr lang="zh-CN" altLang="en-US" sz="1000" b="1" i="0"/>
                        <a:t>：竞品成分为必提的描述，达人实际撰写时自行丰富）</a:t>
                      </a:r>
                      <a:endParaRPr lang="zh-CN" altLang="en-US" sz="1000" b="1" i="0"/>
                    </a:p>
                  </a:txBody>
                  <a:tcPr marL="0" marR="0" marT="0" marB="0" anchor="ctr"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162851"/>
                    </a:solidFill>
                  </a:tcPr>
                </a:tc>
              </a:tr>
              <a:tr h="54320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 dirty="0"/>
                        <a:t>SK2</a:t>
                      </a:r>
                      <a:r>
                        <a:rPr lang="zh-CN" altLang="en-US" sz="900" b="0" i="0" dirty="0"/>
                        <a:t>神仙水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控油透亮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endParaRPr lang="zh-CN" altLang="en-US" sz="900" b="0" i="0" dirty="0"/>
                    </a:p>
                    <a:p>
                      <a:pPr algn="ctr" fontAlgn="ctr" latinLnBrk="0">
                        <a:buNone/>
                      </a:pPr>
                      <a:r>
                        <a:rPr lang="zh-CN" altLang="en-US" sz="900" b="0" i="0" dirty="0"/>
                        <a:t>深修护</a:t>
                      </a:r>
                      <a:r>
                        <a:rPr lang="en-US" altLang="zh-CN" sz="900" b="0" i="0" dirty="0"/>
                        <a:t> </a:t>
                      </a:r>
                      <a:r>
                        <a:rPr lang="zh-CN" altLang="en-US" sz="900" b="0" i="0" dirty="0"/>
                        <a:t>透嫩光</a:t>
                      </a:r>
                      <a:endParaRPr lang="en-US" altLang="zh-CN" sz="900" b="0" i="0" dirty="0"/>
                    </a:p>
                    <a:p>
                      <a:pPr algn="ctr" fontAlgn="ctr" latinLnBrk="0">
                        <a:buNone/>
                      </a:pPr>
                      <a:endParaRPr lang="en-US" altLang="zh-CN" sz="900" b="0" i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抗老成分</a:t>
                      </a:r>
                      <a:r>
                        <a:rPr lang="en-US" altLang="zh-CN" sz="900" b="0" i="0"/>
                        <a:t>PITERA™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230ml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1730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含酒精 微刺鼻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日常维稳 即时效果不突出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日常维稳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调理水油平衡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细水长流型，坚持长期使用能看到效果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能闻到酒精味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不止表面维稳，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175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纳米微囊直达细胞核芯修护，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秒深透皮，一周可见透亮水光</a:t>
                      </a:r>
                      <a:endParaRPr lang="zh-CN" altLang="en-US" sz="900" b="1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fresh</a:t>
                      </a:r>
                      <a:r>
                        <a:rPr lang="zh-CN" altLang="en-US" sz="900" b="0" i="0"/>
                        <a:t>红茶精华水</a:t>
                      </a:r>
                      <a:endParaRPr lang="zh-CN" altLang="en-US" sz="900" b="0" i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焕亮细嫩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红茶酵母精萃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250ml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1180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适合密集湿敷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简单涂抹效果不明显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酵系精华水</a:t>
                      </a: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焕亮</a:t>
                      </a: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肌肤。上脸微微黏</a:t>
                      </a: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淡淡的红茶清香</a:t>
                      </a:r>
                      <a:endParaRPr lang="zh-CN" altLang="en-US" sz="900" b="1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1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上脸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1s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吸收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润而不腻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仿佛给皮肤直接“灌”入水分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皮肤通透感拉满</a:t>
                      </a:r>
                      <a:r>
                        <a:rPr 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摸上去是软的、看过去是亮的。</a:t>
                      </a:r>
                      <a:endParaRPr lang="zh-CN" altLang="en-US" sz="900" b="1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娇韵诗弹簧水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弹润紧致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袋鼠花精萃与粗糙帽果精粹</a:t>
                      </a:r>
                      <a:endParaRPr lang="zh-CN" altLang="en-US" sz="900" b="0" i="0"/>
                    </a:p>
                    <a:p>
                      <a:pPr algn="ctr" fontAlgn="ctr" latinLnBrk="0"/>
                      <a:r>
                        <a:rPr lang="zh-CN" altLang="en-US" sz="900" b="0" i="0"/>
                        <a:t>红海藻与红参精粹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200ml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480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成分温和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无修复提亮功效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整体走的是温和抗初老路线，适合轻熟龄肌姐妹</a:t>
                      </a: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有淡淡的复合花香</a:t>
                      </a:r>
                      <a:endParaRPr lang="zh-CN" altLang="en-US" sz="900" b="1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1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紧致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 + 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深修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 + 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透亮于一瓶，用完不是表面弹，是底子变嫩了、脸颊透出水光感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Aptos"/>
                        </a:rPr>
                        <a:t>。</a:t>
                      </a:r>
                      <a:endParaRPr lang="en-US" altLang="zh-CN" sz="900" b="1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Apto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兰蔻滤镜水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修护抗氧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β-</a:t>
                      </a:r>
                      <a:r>
                        <a:rPr lang="zh-CN" altLang="en-US" sz="900" b="0" i="0"/>
                        <a:t>葡聚糖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150ml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595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适合日常使用维稳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适合熬夜肌日常用来打底修护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抗氧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改善脸蛋泛红的同时减少暗沉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褪红速度快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，175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纳米微囊直钻细胞核芯，修护得更深，敏感、泛红、干痒，一瓶摁住。</a:t>
                      </a:r>
                      <a:endParaRPr lang="zh-CN" altLang="en-US" sz="900" b="1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修丽可色修水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褪红维稳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复合植萃</a:t>
                      </a:r>
                      <a:endParaRPr lang="zh-CN" altLang="en-US" sz="900" b="0" i="0"/>
                    </a:p>
                    <a:p>
                      <a:pPr algn="ctr" fontAlgn="ctr" latinLnBrk="0"/>
                      <a:r>
                        <a:rPr lang="zh-CN" altLang="en-US" sz="900" b="0" i="0"/>
                        <a:t>波尔多树叶提取物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200ml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600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质地清爽 没什么滋润效果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使用场景较局限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爆痘期、换季敏感时用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上脸冰冰凉凉，帮助褪红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有一股本草药味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携带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500+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高能修护肽，美美后、暴晒后、烂脸期都能用。不止舒缓，更是深修，快速把皮肤从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受损模式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”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拉回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健康模式</a:t>
                      </a:r>
                      <a:r>
                        <a:rPr lang="en-US" altLang="zh-CN" sz="900" b="1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”</a:t>
                      </a:r>
                      <a:endParaRPr lang="en-US" altLang="zh-CN" sz="900" b="1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娇兰蜂皇水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滋润维稳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蜂皇浆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150ml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765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成分功效温和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主打温和维稳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轻抗老成分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增强肌肤的自我防御力和愈合力。</a:t>
                      </a:r>
                      <a:endParaRPr lang="zh-CN" altLang="en-US" sz="9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专利律波肽让细胞自己学会修护，不是靠成分硬补，而是唤醒皮肤自带的焕新引擎。修护效率更高，渗透力强到不浮于表面。</a:t>
                      </a:r>
                      <a:endParaRPr lang="zh-CN" altLang="en-US" sz="900" b="1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561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 dirty="0" err="1"/>
                        <a:t>hr</a:t>
                      </a:r>
                      <a:r>
                        <a:rPr lang="zh-CN" altLang="en-US" sz="900" b="0" i="0" dirty="0"/>
                        <a:t>小露珠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 dirty="0"/>
                        <a:t>淡纹抗氧</a:t>
                      </a:r>
                      <a:endParaRPr lang="zh-CN" altLang="en-US" sz="900" b="0" i="0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α</a:t>
                      </a:r>
                      <a:r>
                        <a:rPr lang="zh-CN" altLang="en-US" sz="900" b="0" i="0"/>
                        <a:t>雪绒花愈伤组织提取物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火绒草酸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200ml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 b="0" i="0"/>
                        <a:t>1690</a:t>
                      </a:r>
                      <a:endParaRPr lang="en-US" altLang="zh-CN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0" i="0"/>
                        <a:t>贵妇水 性价比较低</a:t>
                      </a:r>
                      <a:br>
                        <a:rPr lang="zh-CN" altLang="en-US" sz="900" b="0" i="0"/>
                      </a:br>
                      <a:r>
                        <a:rPr lang="zh-CN" altLang="en-US" sz="900" b="0" i="0"/>
                        <a:t>水包油质地喜好因人而异</a:t>
                      </a:r>
                      <a:endParaRPr lang="zh-CN" altLang="en-US" sz="900" b="0" i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独特水包油质地。抗氧能力不错，改善黄气和细纹。有点小钱的姐妹闭眼入</a:t>
                      </a:r>
                      <a:endParaRPr lang="zh-CN" altLang="en-US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vs</a:t>
                      </a:r>
                      <a:endParaRPr lang="en-US" altLang="zh-CN" sz="900" b="1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175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纳米微囊直达细胞核芯，表面清爽无残留，熬夜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医美</a:t>
                      </a:r>
                      <a:r>
                        <a:rPr lang="en-US" altLang="zh-CN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暴晒后都能用，性价比高</a:t>
                      </a:r>
                      <a:endParaRPr lang="zh-CN" altLang="en-US" sz="900" b="1" dirty="0">
                        <a:solidFill>
                          <a:srgbClr val="FF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71170" y="1123950"/>
            <a:ext cx="11582400" cy="5027930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noAutofit/>
          </a:bodyPr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j-ea"/>
              <a:cs typeface="Helvetica"/>
              <a:sym typeface="Apto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71170" y="1123950"/>
          <a:ext cx="11582400" cy="5039995"/>
        </p:xfrm>
        <a:graphic>
          <a:graphicData uri="http://schemas.openxmlformats.org/drawingml/2006/table">
            <a:tbl>
              <a:tblPr/>
              <a:tblGrid>
                <a:gridCol w="1149985"/>
                <a:gridCol w="1150620"/>
                <a:gridCol w="1149985"/>
                <a:gridCol w="1149985"/>
                <a:gridCol w="1150620"/>
                <a:gridCol w="5831205"/>
              </a:tblGrid>
              <a:tr h="615950">
                <a:tc>
                  <a:txBody>
                    <a:bodyPr/>
                    <a:p>
                      <a:pPr algn="ctr" fontAlgn="ctr" latinLnBrk="0"/>
                      <a:endParaRPr sz="900" b="1" i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 gridSpan="5">
                  <a:txBody>
                    <a:bodyPr/>
                    <a:p>
                      <a:pPr algn="ctr" fontAlgn="ctr" latinLnBrk="0"/>
                      <a:r>
                        <a:rPr lang="zh-CN" altLang="en-US" sz="1600" dirty="0">
                          <a:solidFill>
                            <a:schemeClr val="bg1"/>
                          </a:solidFill>
                          <a:sym typeface="+mn-ea"/>
                        </a:rPr>
                        <a:t>执行规划</a:t>
                      </a:r>
                      <a:endParaRPr lang="zh-CN" altLang="en-US" sz="1600" b="1" i="0" dirty="0">
                        <a:solidFill>
                          <a:schemeClr val="bg1"/>
                        </a:solidFill>
                        <a:sym typeface="微软雅黑" panose="020B0503020204020204" charset="-12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70865">
                <a:tc rowSpan="6">
                  <a:txBody>
                    <a:bodyPr/>
                    <a:p>
                      <a:pPr algn="ctr" fontAlgn="ctr" latinLnBrk="0"/>
                      <a:r>
                        <a:rPr lang="zh-CN" altLang="en-US" sz="900" b="1" i="0">
                          <a:solidFill>
                            <a:srgbClr val="000000"/>
                          </a:solidFill>
                        </a:rPr>
                        <a:t>横测</a:t>
                      </a:r>
                      <a:endParaRPr lang="zh-CN" altLang="en-US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1" i="0">
                          <a:solidFill>
                            <a:srgbClr val="000000"/>
                          </a:solidFill>
                        </a:rPr>
                        <a:t>类型</a:t>
                      </a:r>
                      <a:endParaRPr lang="zh-CN" altLang="en-US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1" i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altLang="zh-CN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1" i="0">
                          <a:solidFill>
                            <a:srgbClr val="000000"/>
                          </a:solidFill>
                        </a:rPr>
                        <a:t>篇数</a:t>
                      </a:r>
                      <a:endParaRPr lang="zh-CN" altLang="en-US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1" i="0">
                          <a:solidFill>
                            <a:srgbClr val="000000"/>
                          </a:solidFill>
                        </a:rPr>
                        <a:t>篇数占比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1" i="0">
                          <a:solidFill>
                            <a:srgbClr val="000000"/>
                          </a:solidFill>
                        </a:rPr>
                        <a:t>竞品</a:t>
                      </a:r>
                      <a:r>
                        <a:rPr lang="en-US" altLang="zh-CN" sz="900" b="1" i="0">
                          <a:solidFill>
                            <a:srgbClr val="000000"/>
                          </a:solidFill>
                        </a:rPr>
                        <a:t>list</a:t>
                      </a:r>
                      <a:endParaRPr lang="en-US" altLang="zh-CN" sz="9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0890"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1V5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宫格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必含：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fresh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红茶精华水、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SK2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神仙水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可选：（娇韵诗弹簧水、兰蔻滤镜水、修丽可色修水、娇兰蜂皇水、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HR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小露珠）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0255"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平铺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必含：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fresh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红茶精华水、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SK2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神仙水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可选：（娇韵诗弹簧水、兰蔻滤镜水、修丽可色修水、娇兰蜂皇水、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HR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小露珠）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0890"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1V3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平铺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必含：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fresh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红茶精华水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可选：（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SK2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神仙水、娇韵诗弹簧水、兰蔻滤镜水、修丽可色修水、娇兰蜂皇水、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HR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小露珠）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0255"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1V2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平铺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必含：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fresh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红茶精华水 或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SK2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神仙水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可选：（娇韵诗弹簧水、兰蔻滤镜水、修丽可色修水、娇兰蜂皇水、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HR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小露珠）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0890">
                <a:tc vMerge="1">
                  <a:tcPr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1V1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手持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站立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altLang="zh-CN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fresh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红茶精华水、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</a:rPr>
                        <a:t>SK2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神仙水二选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</a:rPr>
                        <a:t>一</a:t>
                      </a:r>
                      <a:endParaRPr lang="zh-CN" altLang="en-US" sz="9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object 3"/>
          <p:cNvSpPr txBox="1"/>
          <p:nvPr>
            <p:custDataLst>
              <p:tags r:id="rId2"/>
            </p:custDataLst>
          </p:nvPr>
        </p:nvSpPr>
        <p:spPr>
          <a:xfrm>
            <a:off x="113288" y="204503"/>
            <a:ext cx="95656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 kern="0">
                <a:gradFill flip="none" rotWithShape="1">
                  <a:gsLst>
                    <a:gs pos="0">
                      <a:srgbClr val="CB9A5F"/>
                    </a:gs>
                    <a:gs pos="49980">
                      <a:srgbClr val="FCE1A4"/>
                    </a:gs>
                    <a:gs pos="98000">
                      <a:srgbClr val="CB9A5F"/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Bold" panose="020B0503020204020204" charset="-122"/>
                <a:ea typeface="Microsoft YaHei Bold" panose="020B0503020204020204" charset="-122"/>
                <a:cs typeface="Optima Bold" panose="02000503060000020004" charset="0"/>
              </a:defRPr>
            </a:lvl1pPr>
          </a:lstStyle>
          <a:p>
            <a:pPr algn="l" fontAlgn="ctr" latinLnBrk="0"/>
            <a:r>
              <a:rPr lang="zh-CN" altLang="en-US" dirty="0">
                <a:sym typeface="+mn-ea"/>
              </a:rPr>
              <a:t>小棕复活水横测执行规划</a:t>
            </a:r>
            <a:endParaRPr lang="zh-CN" altLang="en-US" dirty="0">
              <a:sym typeface="微软雅黑" panose="020B050302020402020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445.35,&quot;left&quot;:630.35,&quot;top&quot;:80.05,&quot;width&quot;:315.05}"/>
</p:tagLst>
</file>

<file path=ppt/tags/tag6.xml><?xml version="1.0" encoding="utf-8"?>
<p:tagLst xmlns:p="http://schemas.openxmlformats.org/presentationml/2006/main">
  <p:tag name="TABLE_ENDDRAG_ORIGIN_RECT" val="265*94"/>
  <p:tag name="TABLE_ENDDRAG_RECT" val="664*124*265*94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960*436"/>
  <p:tag name="TABLE_ENDDRAG_RECT" val="0*105*960*436"/>
</p:tagLst>
</file>

<file path=ppt/tags/tag9.xml><?xml version="1.0" encoding="utf-8"?>
<p:tagLst xmlns:p="http://schemas.openxmlformats.org/presentationml/2006/main">
  <p:tag name="TABLE_ENDDRAG_ORIGIN_RECT" val="864*314"/>
  <p:tag name="TABLE_ENDDRAG_RECT" val="48*95*864*314"/>
</p:tagLst>
</file>

<file path=ppt/tags/tag1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2644</Words>
  <Application>WPS 表格</Application>
  <PresentationFormat>宽屏</PresentationFormat>
  <Paragraphs>284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Helvetica</vt:lpstr>
      <vt:lpstr>Aptos</vt:lpstr>
      <vt:lpstr>Microsoft YaHei Bold</vt:lpstr>
      <vt:lpstr>Optima Bold</vt:lpstr>
      <vt:lpstr>微软雅黑</vt:lpstr>
      <vt:lpstr>Optima Bold Italic</vt:lpstr>
      <vt:lpstr>Arial Bold</vt:lpstr>
      <vt:lpstr>微软雅黑</vt:lpstr>
      <vt:lpstr>Helvetica Neue</vt:lpstr>
      <vt:lpstr>汉仪书宋二KW</vt:lpstr>
      <vt:lpstr>Apple Color Emoji</vt:lpstr>
      <vt:lpstr>苹方-简</vt:lpstr>
      <vt:lpstr>等线</vt:lpstr>
      <vt:lpstr>汉仪中等线KW</vt:lpstr>
      <vt:lpstr>宋体</vt:lpstr>
      <vt:lpstr>Arial Unicode MS</vt:lpstr>
      <vt:lpstr>等线 Light</vt:lpstr>
      <vt:lpstr>Aptos Display</vt:lpstr>
      <vt:lpstr>Calibri</vt:lpstr>
      <vt:lpstr>Aptos</vt:lpstr>
      <vt:lpstr>Helvetica</vt:lpstr>
      <vt:lpstr>Microsoft YaHei Bold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Shao, Carol</dc:creator>
  <cp:lastModifiedBy>Enchanted</cp:lastModifiedBy>
  <cp:revision>5</cp:revision>
  <dcterms:created xsi:type="dcterms:W3CDTF">2026-06-12T04:15:45Z</dcterms:created>
  <dcterms:modified xsi:type="dcterms:W3CDTF">2026-06-12T04:15:45Z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f34ead-50a3-4950-8a39-fca3a33c48cb_Enabled">
    <vt:lpwstr>true</vt:lpwstr>
  </property>
  <property fmtid="{D5CDD505-2E9C-101B-9397-08002B2CF9AE}" pid="3" name="MSIP_Label_b1f34ead-50a3-4950-8a39-fca3a33c48cb_SetDate">
    <vt:lpwstr>2026-06-10T09:18:15Z</vt:lpwstr>
  </property>
  <property fmtid="{D5CDD505-2E9C-101B-9397-08002B2CF9AE}" pid="4" name="MSIP_Label_b1f34ead-50a3-4950-8a39-fca3a33c48cb_Method">
    <vt:lpwstr>Standard</vt:lpwstr>
  </property>
  <property fmtid="{D5CDD505-2E9C-101B-9397-08002B2CF9AE}" pid="5" name="MSIP_Label_b1f34ead-50a3-4950-8a39-fca3a33c48cb_Name">
    <vt:lpwstr>Confidential</vt:lpwstr>
  </property>
  <property fmtid="{D5CDD505-2E9C-101B-9397-08002B2CF9AE}" pid="6" name="MSIP_Label_b1f34ead-50a3-4950-8a39-fca3a33c48cb_SiteId">
    <vt:lpwstr>0c5638da-d686-4d6a-8df4-e0552c70cb17</vt:lpwstr>
  </property>
  <property fmtid="{D5CDD505-2E9C-101B-9397-08002B2CF9AE}" pid="7" name="MSIP_Label_b1f34ead-50a3-4950-8a39-fca3a33c48cb_ActionId">
    <vt:lpwstr>860fade3-9aa2-4c49-a316-91e5bd6ed48f</vt:lpwstr>
  </property>
  <property fmtid="{D5CDD505-2E9C-101B-9397-08002B2CF9AE}" pid="8" name="MSIP_Label_b1f34ead-50a3-4950-8a39-fca3a33c48cb_ContentBits">
    <vt:lpwstr>0</vt:lpwstr>
  </property>
  <property fmtid="{D5CDD505-2E9C-101B-9397-08002B2CF9AE}" pid="9" name="MSIP_Label_b1f34ead-50a3-4950-8a39-fca3a33c48cb_Tag">
    <vt:lpwstr>10, 3, 0, 1</vt:lpwstr>
  </property>
  <property fmtid="{D5CDD505-2E9C-101B-9397-08002B2CF9AE}" pid="10" name="ICV">
    <vt:lpwstr>669E1DFB41F21851F1872B6A1F398937_43</vt:lpwstr>
  </property>
  <property fmtid="{D5CDD505-2E9C-101B-9397-08002B2CF9AE}" pid="11" name="KSOProductBuildVer">
    <vt:lpwstr>2052-7.5.1.8994</vt:lpwstr>
  </property>
</Properties>
</file>